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4F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4F4F5"/>
                </a:solidFill>
                <a:latin typeface="Calibri"/>
              </a:rPr>
              <a:t>Plateau (illustration)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Plateau (illustration)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1.0</c:v>
                  </c:pt>
                  <c:pt idx="1">
                    <c:v>1.5</c:v>
                  </c:pt>
                  <c:pt idx="2">
                    <c:v>2.0</c:v>
                  </c:pt>
                  <c:pt idx="3">
                    <c:v>2.5</c:v>
                  </c:pt>
                  <c:pt idx="4">
                    <c:v>3.0</c:v>
                  </c:pt>
                  <c:pt idx="5">
                    <c:v>3.5</c:v>
                  </c:pt>
                  <c:pt idx="6">
                    <c:v>4.0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0.02</c:v>
                </c:pt>
                <c:pt idx="1">
                  <c:v>0.05</c:v>
                </c:pt>
                <c:pt idx="2">
                  <c:v>0.08</c:v>
                </c:pt>
                <c:pt idx="3">
                  <c:v>0.09</c:v>
                </c:pt>
                <c:pt idx="4">
                  <c:v>0.08</c:v>
                </c:pt>
                <c:pt idx="5">
                  <c:v>0.07</c:v>
                </c:pt>
                <c:pt idx="6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A1A1A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A1A1AA"/>
                    </a:solidFill>
                    <a:latin typeface="Arial"/>
                  </a:rPr>
                  <a:t>Target × ATR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E2E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42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4F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4F4F5"/>
                </a:solidFill>
                <a:latin typeface="Calibri"/>
              </a:rPr>
              <a:t>Spike (illustration)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Spike (illustration)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1.0</c:v>
                  </c:pt>
                  <c:pt idx="1">
                    <c:v>1.5</c:v>
                  </c:pt>
                  <c:pt idx="2">
                    <c:v>2.0</c:v>
                  </c:pt>
                  <c:pt idx="3">
                    <c:v>2.5</c:v>
                  </c:pt>
                  <c:pt idx="4">
                    <c:v>3.0</c:v>
                  </c:pt>
                  <c:pt idx="5">
                    <c:v>3.5</c:v>
                  </c:pt>
                  <c:pt idx="6">
                    <c:v>4.0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-0.08</c:v>
                </c:pt>
                <c:pt idx="1">
                  <c:v>-0.06</c:v>
                </c:pt>
                <c:pt idx="2">
                  <c:v>-0.07</c:v>
                </c:pt>
                <c:pt idx="3">
                  <c:v>0.14</c:v>
                </c:pt>
                <c:pt idx="4">
                  <c:v>-0.05</c:v>
                </c:pt>
                <c:pt idx="5">
                  <c:v>-0.09</c:v>
                </c:pt>
                <c:pt idx="6">
                  <c:v>-0.08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A1A1AA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A1A1AA"/>
                    </a:solidFill>
                    <a:latin typeface="Arial"/>
                  </a:rPr>
                  <a:t>Target × ATR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E2E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1A1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242D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deck sirf samjhane ke liye hai. Kuch bhi change nahi kiya gaya. Har page ka matlab, keywords aur use karne ka tareeka.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Poora app ek line hai: data se shuru, paper trading pe khatam. Har page is line ka ek step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Start_Candle_Intelligence.bat double-click karo. Woh 5 kaam khud karta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items sidebar mein. Unhe 5 groups mein socho. Beginner ke liye pehle 2 hi kaafi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shabdon ke bina baaki pages samajh nahi aayenge. R aur Expectancy sabse zaroori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shabd isliye hain taaki hum khud ko dhokha na dein. Har rule ek tarah ki cheating rokta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A/B/C sabse confusing lagta hai, par yeh school exam jaisa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numbers illustration ke liye hain ($100 risk). Asli costs Data Center pe dikhte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Dhyan: Claude Code CLI abhi is PC pe install nahi hai, isliye bridge wala button abhi test nahi hua. Claude Code desktop/terminal se /ceo-run chalana hoga.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Teeno tareeke ek hi 'spec' (rules ki file) banate hain aur ek hi backtester chalate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Builder ke 5 hisse. Har field ka matlab.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Plateau achha, spike bura. Yahi Optimize page ka sabse zaroori sabak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Validate hi final judge hai. Checklist ka ek bhi item fail = rejected. Partial pass nahi hota.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mode: bina API (Claude Code/Desktop) aur API chat (AgentRouter — abhi budget khatam, A9).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ek asli example hai — engine ne jo result diya wahi.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 tak koi strategy pass nahi hui. Yeh platform ki galti nahi — yeh uski imaandari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Teen raaste. Aapko sab pages ki zaroorat nahi.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 aapki baari. In sawaalon ke jawab do, phir changes plan karenge. Abhi kuch implement nahi kiya.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1520" y="1188720"/>
            <a:ext cx="1005840" cy="100584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410005"/>
            <a:ext cx="563270" cy="56327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 INTELLIGENCE · XAUUSD STRATEGY RESEARCH LAB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Poora Feature Guide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page, har button, har confusing keyword — simple Hinglish mein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samjhane ke liye · app mein kuch change nahi kiya · 22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SABSE PEHLE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Yeh app hai kya?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(XAUUSD) ke purane 5 saal ke data pe </a:t>
            </a:r>
            <a:pPr indent="0" marL="0">
              <a:buNone/>
            </a:pPr>
            <a:r>
              <a:rPr lang="en-US" sz="22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ideas ko imaandari se test karne ki lab</a:t>
            </a:r>
            <a:pPr indent="0" marL="0">
              <a:buNone/>
            </a:pPr>
            <a:r>
              <a:rPr lang="en-US" sz="2200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taaki pata chale kaunsa idea sach mein kharche ke baad bhi paisa banata, aur kaunsa sirf luck tha.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saal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2021 → aaj tak ka gold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7889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1.84 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1-minute candles (M1) store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788920"/>
            <a:ext cx="2331720" cy="1737360"/>
          </a:xfrm>
          <a:prstGeom prst="roundRect">
            <a:avLst>
              <a:gd name="adj" fmla="val 63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2926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3749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real-money trades — sirf research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2788920"/>
            <a:ext cx="3639312" cy="3566160"/>
          </a:xfrm>
          <a:prstGeom prst="roundRect">
            <a:avLst>
              <a:gd name="adj" fmla="val 3077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30175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NAHI HAI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bot nahi — koi order nahi lagata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service ya tip nahi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 ko touch nahi karta (sirf demo data padhta)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"Backtest mein achha dikha" = profitable NAHI maanta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7406640" cy="1645920"/>
          </a:xfrm>
          <a:prstGeom prst="roundRect">
            <a:avLst>
              <a:gd name="adj" fmla="val 666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8920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 nayi dawa ko market mein laane se pehle lab mein test hota hai — pehle chuhon pe (Tier A), phir volunteers pe (Tier B), aur aakhir mein ek final trial (Tier C). Yeh app gold strategies ki wahi lab hai.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62179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se "pakki strategy" tak ka safar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89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96" y="1953524"/>
            <a:ext cx="317480" cy="317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se 5 saal ki candles + ticks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0574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5191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96" y="195352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488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1671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Spread, slippage, commission, swap ka hisaab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21488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1193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096" y="195352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490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Samjho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7673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 pattern ke baad gold kya karta hai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37490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Explorer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2578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195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296" y="1953524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492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→ Rules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3675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ko exact rules mein likho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53492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Lab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8580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3197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496" y="1953524"/>
            <a:ext cx="317480" cy="3174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9494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9677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Purane data pe chala ke dekho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69494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/ Optimize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4582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9199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696" y="1953524"/>
            <a:ext cx="317480" cy="31748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5496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85679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Naye data + luck test + §15 checklist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85496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10058400" y="1600200"/>
            <a:ext cx="1490472" cy="2834640"/>
          </a:xfrm>
          <a:prstGeom prst="roundRect">
            <a:avLst>
              <a:gd name="adj" fmla="val 7362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10520172" y="182880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4896" y="1953524"/>
            <a:ext cx="317480" cy="31748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0149840" y="251460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trade</a:t>
            </a:r>
            <a:endParaRPr lang="en-US" sz="1500" dirty="0"/>
          </a:p>
        </p:txBody>
      </p:sp>
      <p:sp>
        <p:nvSpPr>
          <p:cNvPr id="46" name="Text 36"/>
          <p:cNvSpPr txBox="1"/>
          <p:nvPr/>
        </p:nvSpPr>
        <p:spPr>
          <a:xfrm>
            <a:off x="10168128" y="292608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pe bina paise ke</a:t>
            </a:r>
            <a:endParaRPr lang="en-US" sz="1100" dirty="0"/>
          </a:p>
        </p:txBody>
      </p:sp>
      <p:sp>
        <p:nvSpPr>
          <p:cNvPr id="47" name="Text 37"/>
          <p:cNvSpPr txBox="1"/>
          <p:nvPr/>
        </p:nvSpPr>
        <p:spPr>
          <a:xfrm>
            <a:off x="10149840" y="388620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 — abhi bana nahi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457200" y="4663440"/>
            <a:ext cx="11274552" cy="1691640"/>
          </a:xfrm>
          <a:prstGeom prst="roundRect">
            <a:avLst>
              <a:gd name="adj" fmla="val 648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685800" y="48463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— DONO RAASTE EK HI ENGINE PE CHALTE HAIN</a:t>
            </a:r>
            <a:endParaRPr lang="en-US" sz="1100" dirty="0"/>
          </a:p>
          <a:p>
            <a:pPr indent="0" marL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khud </a:t>
            </a:r>
            <a:pPr indent="0" marL="0">
              <a:buNone/>
            </a:pPr>
            <a:r>
              <a:rPr lang="en-US" sz="13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(Strategy Lab → Backtest → Validate)</a:t>
            </a:r>
            <a:pPr indent="0" marL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ya AI se karwao </a:t>
            </a:r>
            <a:pPr indent="0" marL="0">
              <a:buNone/>
            </a:pPr>
            <a:r>
              <a:rPr lang="en-US" sz="13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(CEO Work Lab / Research Pipeline / AI Assistant)</a:t>
            </a:r>
            <a:pPr indent="0" marL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Numbers hamesha Python engine nikalta hai — AI sirf idea deta aur engine chalata hai, khud number nahi banata.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 KA KAAM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start aur band kaise karein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6309360" cy="4892040"/>
          </a:xfrm>
          <a:prstGeom prst="roundRect">
            <a:avLst>
              <a:gd name="adj" fmla="val 22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START_CANDLE_INTELLIGENCE.BAT (DOUBLE-CLICK) — YEH 5 KAAM KHUD KARTA HAI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10312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+ PostgreSQL (database — saare results yahan save hote hain)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MetaTrader 5 khulta hai — check: demo account, Algo Trading OFF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API chalu (port 8000) — yeh "engine" hai jo saare number nikalta hai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chalu (port 3000) — jo aap browser mein dekhte ho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khud khul jaata hai: localhost:3000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5257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karna: </a:t>
            </a:r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Stop_Candle_Intelligence.bat double-click. Kaale (cmd) windows band mat karo beech mein — jobs adhoore reh sakte hain.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949440" y="1463040"/>
            <a:ext cx="4782312" cy="1005840"/>
          </a:xfrm>
          <a:prstGeom prst="roundRect">
            <a:avLst>
              <a:gd name="adj" fmla="val 10909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17804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011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Aapka main app (yahi use karna hai)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949440" y="2651760"/>
            <a:ext cx="4782312" cy="1005840"/>
          </a:xfrm>
          <a:prstGeom prst="roundRect">
            <a:avLst>
              <a:gd name="adj" fmla="val 10909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17804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127.0.0.1:8000/docs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17804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ka technical page — ignore kar sakte ho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49440" y="3840480"/>
            <a:ext cx="4782312" cy="2514600"/>
          </a:xfrm>
          <a:prstGeom prst="roundRect">
            <a:avLst>
              <a:gd name="adj" fmla="val 4364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178040" y="406908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KARO KI SAB THEEK HAI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ke neeche: </a:t>
            </a:r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Local engine connected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(green) = sab chalu.
</a:t>
            </a:r>
            <a:pPr indent="0" marL="0"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Engine offline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(red) = API band hai → .bat dobara chalao.
</a:t>
            </a:r>
            <a:pPr indent="0" marL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Upar right: </a:t>
            </a:r>
            <a:pPr indent="0" marL="0">
              <a:buNone/>
            </a:pPr>
            <a:r>
              <a:rPr lang="en-US" sz="13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XAUUSD</a:t>
            </a:r>
            <a:pPr indent="0" marL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badge + data range (jaise 2021-07 → 2026-09).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NAKSHA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ke 13 pages — 5 groups mein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2A2415"/>
          </a:solidFill>
          <a:ln w="12700">
            <a:solidFill>
              <a:srgbClr val="2A241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SHURU YAHAN SE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5800" y="202996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13055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Work Lab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Sawaal likho, AI team research kare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85800" y="28072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90779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280160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har candle ki details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261104" y="146304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489704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MARKET SAMJHO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489704" y="202996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13055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84064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5084064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aur trading ke kharche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489704" y="28072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907792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084064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Explorer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5084064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ke baad kya hota hai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8065008" y="146304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8293608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STRATEGY BANAO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293608" y="202996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2130552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887968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Lab</a:t>
            </a:r>
            <a:endParaRPr lang="en-US" sz="1350" dirty="0"/>
          </a:p>
        </p:txBody>
      </p:sp>
      <p:sp>
        <p:nvSpPr>
          <p:cNvPr id="33" name="Text 24"/>
          <p:cNvSpPr txBox="1"/>
          <p:nvPr/>
        </p:nvSpPr>
        <p:spPr>
          <a:xfrm>
            <a:off x="8887968" y="2286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banao (3 tareeke)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8293608" y="28072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2907792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887968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Strategies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8887968" y="3063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Saari saved strategies + results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457200" y="384048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85800" y="4005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TEST KARO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685800" y="44074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507992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280160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350" dirty="0"/>
          </a:p>
        </p:txBody>
      </p:sp>
      <p:sp>
        <p:nvSpPr>
          <p:cNvPr id="43" name="Text 32"/>
          <p:cNvSpPr txBox="1"/>
          <p:nvPr/>
        </p:nvSpPr>
        <p:spPr>
          <a:xfrm>
            <a:off x="128016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Purane data pe chalao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3337560" y="44074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8144" y="4507992"/>
            <a:ext cx="256032" cy="256032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3931920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350" dirty="0"/>
          </a:p>
        </p:txBody>
      </p:sp>
      <p:sp>
        <p:nvSpPr>
          <p:cNvPr id="47" name="Text 35"/>
          <p:cNvSpPr txBox="1"/>
          <p:nvPr/>
        </p:nvSpPr>
        <p:spPr>
          <a:xfrm>
            <a:off x="3931920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settings dhoondo</a:t>
            </a:r>
            <a:endParaRPr lang="en-US" sz="1100" dirty="0"/>
          </a:p>
        </p:txBody>
      </p:sp>
      <p:sp>
        <p:nvSpPr>
          <p:cNvPr id="48" name="Shape 36"/>
          <p:cNvSpPr/>
          <p:nvPr/>
        </p:nvSpPr>
        <p:spPr>
          <a:xfrm>
            <a:off x="685800" y="53218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5422392"/>
            <a:ext cx="256032" cy="25603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28016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51" name="Text 38"/>
          <p:cNvSpPr txBox="1"/>
          <p:nvPr/>
        </p:nvSpPr>
        <p:spPr>
          <a:xfrm>
            <a:off x="1280160" y="5577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imaandar test</a:t>
            </a:r>
            <a:endParaRPr lang="en-US" sz="1100" dirty="0"/>
          </a:p>
        </p:txBody>
      </p:sp>
      <p:sp>
        <p:nvSpPr>
          <p:cNvPr id="52" name="Shape 39"/>
          <p:cNvSpPr/>
          <p:nvPr/>
        </p:nvSpPr>
        <p:spPr>
          <a:xfrm>
            <a:off x="6089904" y="384048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6318504" y="4005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AI / AUTOMATION</a:t>
            </a:r>
            <a:endParaRPr lang="en-US" sz="1100" dirty="0"/>
          </a:p>
        </p:txBody>
      </p:sp>
      <p:sp>
        <p:nvSpPr>
          <p:cNvPr id="54" name="Shape 41"/>
          <p:cNvSpPr/>
          <p:nvPr/>
        </p:nvSpPr>
        <p:spPr>
          <a:xfrm>
            <a:off x="6318504" y="44074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4507992"/>
            <a:ext cx="256032" cy="256032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6912864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Pipeline</a:t>
            </a:r>
            <a:endParaRPr lang="en-US" sz="1350" dirty="0"/>
          </a:p>
        </p:txBody>
      </p:sp>
      <p:sp>
        <p:nvSpPr>
          <p:cNvPr id="57" name="Text 43"/>
          <p:cNvSpPr txBox="1"/>
          <p:nvPr/>
        </p:nvSpPr>
        <p:spPr>
          <a:xfrm>
            <a:off x="6912864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khud 100s ideas test kare</a:t>
            </a:r>
            <a:endParaRPr lang="en-US" sz="1100" dirty="0"/>
          </a:p>
        </p:txBody>
      </p:sp>
      <p:sp>
        <p:nvSpPr>
          <p:cNvPr id="58" name="Shape 44"/>
          <p:cNvSpPr/>
          <p:nvPr/>
        </p:nvSpPr>
        <p:spPr>
          <a:xfrm>
            <a:off x="8970264" y="44074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4507992"/>
            <a:ext cx="256032" cy="256032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9564624" y="4389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</a:t>
            </a:r>
            <a:endParaRPr lang="en-US" sz="1350" dirty="0"/>
          </a:p>
        </p:txBody>
      </p:sp>
      <p:sp>
        <p:nvSpPr>
          <p:cNvPr id="61" name="Text 46"/>
          <p:cNvSpPr txBox="1"/>
          <p:nvPr/>
        </p:nvSpPr>
        <p:spPr>
          <a:xfrm>
            <a:off x="9564624" y="4663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filter</a:t>
            </a:r>
            <a:endParaRPr lang="en-US" sz="1100" dirty="0"/>
          </a:p>
        </p:txBody>
      </p:sp>
      <p:sp>
        <p:nvSpPr>
          <p:cNvPr id="62" name="Shape 47"/>
          <p:cNvSpPr/>
          <p:nvPr/>
        </p:nvSpPr>
        <p:spPr>
          <a:xfrm>
            <a:off x="6318504" y="5321808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088" y="5422392"/>
            <a:ext cx="256032" cy="256032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6912864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50" dirty="0"/>
          </a:p>
        </p:txBody>
      </p:sp>
      <p:sp>
        <p:nvSpPr>
          <p:cNvPr id="65" name="Text 49"/>
          <p:cNvSpPr txBox="1"/>
          <p:nvPr/>
        </p:nvSpPr>
        <p:spPr>
          <a:xfrm>
            <a:off x="6912864" y="5577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mein poocho</a:t>
            </a:r>
            <a:endParaRPr lang="en-US" sz="1100" dirty="0"/>
          </a:p>
        </p:txBody>
      </p:sp>
      <p:sp>
        <p:nvSpPr>
          <p:cNvPr id="66" name="Text 50"/>
          <p:cNvSpPr txBox="1"/>
          <p:nvPr/>
        </p:nvSpPr>
        <p:spPr>
          <a:xfrm>
            <a:off x="457200" y="64282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Beginner: sirf group 1 se shuru karo.  </a:t>
            </a:r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ka "Research jobs" tray lambe kaam (backtest, optimize, validate) ki progress dikhata — page band karke bhi chalte rehte.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DICTIONARY · 1/3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aur paise ke shabd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554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XAUUSD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834640" y="1554480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ka price US Dollar mein. Yeh app sirf isi ek cheez pe kaam karta hai.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33008" y="1463040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61608" y="1554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Candle / Bar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10448" y="1554480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time-block ka Open, High, Low, Close. Dono shabd same cheez hain.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487168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· M5 · M15 · H1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834640" y="2578608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· 5 min · 15 min · 1 ghante ki candle. Faisla M5 candle band hone pe, fill M1 pe check.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33008" y="2487168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61608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610448" y="2578608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"Average candle size" (pichhli 14 candles). Stop 1.5 × ATR = normal candle se 1.5 guna door.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57200" y="3511296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(risk unit)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2834640" y="3602736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 = ek trade mein jitna risk kiya. $100 risk → +2 R = $200 kamaaya, −1 R = $100 gaya.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33008" y="3511296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61608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Expectancy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610448" y="3602736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trade ka average R. Sabse zaroori number. +0.10 R × 100 trades ≈ +10 R.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7200" y="4535424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5800" y="4626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2834640" y="4626864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aur sell price ka farak — har trade pe lagne wala "tax".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33008" y="4535424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61608" y="4626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Slippage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8610448" y="4626864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Socha tha usse thoda kharab price mila (khaas kar stop pe).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7200" y="5559552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5800" y="5650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 · Swap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2834640" y="5650992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ki fee per lot (Raw: $10 round-turn) · raat bhar trade rakhne ka charge.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233008" y="5559552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61608" y="5650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· Short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8610448" y="5650992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= price upar jaane pe kamai (buy). Short = neeche jaane pe (sell).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DICTIONARY · 2/3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Imaandari (honesty) ke shabd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554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A / B / C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834640" y="1554480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 3 hisse: A = seekhna, B = check, C = sealed final exam (sirf ek baar). Agli slide dekho.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33008" y="1463040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61608" y="1554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 · Base · Pessimistic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10448" y="1554480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cost scenario: sasta · normal · mehenga. Pass/fail sirf Pessimistic ("gate") 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2487168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834640" y="2578608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backtest ek "koshish" gina jaata hai. Zyada koshish = luck se jeetne ka chance zyada.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233008" y="2487168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61608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610448" y="2578608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idea + uske saare variants. Family ke trials jitne zyada, pass hone ka bar utna ooncha.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57200" y="3511296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Deflated Sharpe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2834640" y="3602736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"Kya yeh sirf luck hai?" test, trials ke hisaab se. &gt; 0 hona chahiye.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233008" y="3511296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61608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/ Pre-registration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610448" y="3602736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dekhne se PEHLE likh dena ki idea kyun kaam karega. Baad mein kahani badal nahi sakte.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57200" y="4535424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5800" y="4626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Factor (PF)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2834640" y="4626864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jeet ÷ total haar. 1.0 = barabar. Chahiye ≥ 1.15.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233008" y="4535424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61608" y="4626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Drawdown (DD)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8610448" y="4626864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Upar ke peak se sabse bada gira hua nuksaan (R mein). Chahiye ≤ 15 R.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7200" y="5559552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5800" y="5650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Walk-forward (WF)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2834640" y="5650992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mahine pe seekho → agle 3 mahine pe trade karo → aage khisko → repeat.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6233008" y="5559552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61608" y="5650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§15 · Candidate · Rejected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8610448" y="5650992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§15 = pehle se likhe pass/fail rules. Sab pass = Candidate. Ek bhi fail = Rejected.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DICTIONARY · 3/3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aur pattern ke shabd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554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1554480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ke hisse: Asian, London, New York, aur overlap (London+NY saath).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33008" y="1463040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15544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Swing (●)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10448" y="1554480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Chhota pahad (high) ya ghaati (low). 5 candle baad pakka hota hai.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487168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S/R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2578608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/ Resistance: price level jahan 2+ baar ruka. Motii line = 3+ baar.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33008" y="2487168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61608" y="25786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Trendline · Channel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610448" y="2578608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low ko jodne wali line (blue) / falling high (orange). Dashed = channel.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511296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 — Sweep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3602736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level ke thoda paar gaya aur wapas aa gaya (stop-hunt / liquidity sweep).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33008" y="3511296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61608" y="36027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 · RT · FB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610448" y="3602736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(level toda) · Retest (wapas aake chhua) · Failed break (toda, phir fail).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535424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4626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PDH / PDL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2834640" y="4626864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Day High / Low — kal ka sabse ooncha / neecha price.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33008" y="4535424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61608" y="4626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regime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610448" y="4626864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kitna hil raha hai: low / mid / high.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57200" y="5559552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5650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Rollover window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2834640" y="5650992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 raat ka time jab spread bahut badh jaata hai — us time entry band.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33008" y="5559552"/>
            <a:ext cx="5501488" cy="841248"/>
          </a:xfrm>
          <a:prstGeom prst="roundRect">
            <a:avLst>
              <a:gd name="adj" fmla="val 130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61608" y="5650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available_at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610448" y="5650992"/>
            <a:ext cx="294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kab pata chala. Future ka data kabhi use nahi hota (no look-ahead).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SABSE ZAROORI CONCEPT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A · B · C = homework · mock test · board exam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828800"/>
            <a:ext cx="6786413" cy="822960"/>
          </a:xfrm>
          <a:prstGeom prst="rect">
            <a:avLst/>
          </a:prstGeom>
          <a:solidFill>
            <a:srgbClr val="E0B04A"/>
          </a:solidFill>
          <a:ln w="25400">
            <a:solidFill>
              <a:srgbClr val="0E0E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1828800"/>
            <a:ext cx="67864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A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743200"/>
            <a:ext cx="6786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2021 → Aug 2024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243613" y="1828800"/>
            <a:ext cx="2254910" cy="822960"/>
          </a:xfrm>
          <a:prstGeom prst="rect">
            <a:avLst/>
          </a:prstGeom>
          <a:solidFill>
            <a:srgbClr val="5B9BEA"/>
          </a:solidFill>
          <a:ln w="25400">
            <a:solidFill>
              <a:srgbClr val="0E0E1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43613" y="1828800"/>
            <a:ext cx="22549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B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243613" y="2743200"/>
            <a:ext cx="2254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 → Sep 2025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498523" y="1828800"/>
            <a:ext cx="2233229" cy="822960"/>
          </a:xfrm>
          <a:prstGeom prst="rect">
            <a:avLst/>
          </a:prstGeom>
          <a:solidFill>
            <a:srgbClr val="24242D"/>
          </a:solidFill>
          <a:ln w="25400">
            <a:solidFill>
              <a:srgbClr val="0E0E1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498523" y="1828800"/>
            <a:ext cx="22332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C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9498523" y="2743200"/>
            <a:ext cx="2233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 → aaj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11228832" y="2011680"/>
            <a:ext cx="457200" cy="45720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416" y="2112264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57200" y="3429000"/>
            <a:ext cx="3630168" cy="2926080"/>
          </a:xfrm>
          <a:prstGeom prst="roundRect">
            <a:avLst>
              <a:gd name="adj" fmla="val 375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Homework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41148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Jitni baar chaho test karo, settings badlo. Optimize yahin hota hai. Par yahan achha dikhna kuch prove nahi karta.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279392" y="3429000"/>
            <a:ext cx="3630168" cy="2926080"/>
          </a:xfrm>
          <a:prstGeom prst="roundRect">
            <a:avLst>
              <a:gd name="adj" fmla="val 375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07992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9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Mock test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4507992" y="41148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ne yeh data kabhi "dekha" nahi. Yahan bhi positive = pehla asli saboot.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101584" y="3429000"/>
            <a:ext cx="3630168" cy="2926080"/>
          </a:xfrm>
          <a:prstGeom prst="roundRect">
            <a:avLst>
              <a:gd name="adj" fmla="val 375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330184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= Board exam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330184" y="411480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 laga hai. Sirf Validate page pe, jab baaki sab pass ho, har family ke liye EK baar, reason likh ke khulta hai. AI isko kabhi nahi dekh sakta.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PAISA KAISE GINA JAATA HAI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aur 3 cost scenarios — ek example se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91640"/>
            <a:ext cx="4937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KA EXAMPLE (MAAN LO HAR TRADE MEIN $100 RISK)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lag gaya → −1 R = −$100
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 ATR pe, stop 1 ATR pe laga → jeete to +2 R = +$200
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khatam, thoda profit → +0.3 R = +$30
</a:t>
            </a:r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EXPECTANCY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trades ka average. +0.10 R = har trade pe average $10 → 100 trades ≈ +$1,000.
</a:t>
            </a:r>
            <a:pPr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−0.28 R = har trade pe $28 ka nuksaan (hamari example strategies ka asli result).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35040" y="1463040"/>
            <a:ext cx="5696712" cy="1490472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6364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1A1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923544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 — sasta din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1031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"upar ki limit". Isse kabhi decide mat karo.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3136392"/>
            <a:ext cx="5696712" cy="1490472"/>
          </a:xfrm>
          <a:prstGeom prst="roundRect">
            <a:avLst>
              <a:gd name="adj" fmla="val 736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63640" y="3300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— normal din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263640" y="3776472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 — aam taur pe kya hota.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035040" y="4809744"/>
            <a:ext cx="5696712" cy="1490472"/>
          </a:xfrm>
          <a:prstGeom prst="roundRect">
            <a:avLst>
              <a:gd name="adj" fmla="val 7362"/>
            </a:avLst>
          </a:prstGeom>
          <a:solidFill>
            <a:srgbClr val="2A2415"/>
          </a:solidFill>
          <a:ln w="12700">
            <a:solidFill>
              <a:srgbClr val="2A241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63640" y="49743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Pessimistic  ·  GATE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9235440" y="5010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— mehenga din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63640" y="5449824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yahi pass/fail decide karta. Isme positive = asli edge.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· SIDEBAR: "MISSION DO · AI AGENTS RESEARCH KAREIN"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Work Lab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localhost:3000/ceo-lab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Sabse aasaan darwaza. Aap apna research sawaal Hinglish mein likhte ho; 5 AI agents plan bana ke engine se test karte hain aur simple report dete hain.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company ke CEO ho. Director kaam baantta hai, 4 specialist employees research karte hain, aap sirf approve aur report padhte ho.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aapke paas idea/sawaal hai par khud forms bharna nahi chahte.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"Naya research mission" box mein sawaal likho (ya diye gaye 3 examples mein se chuno).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folder mein kholo aur /ceo-run chalao — ya Start_CEO_Bridge.bat + page ka button.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plan banata hai → "Plan approve karo" dabao, ya Director ko likho kya badalna hai.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kaam karte hain — "Kaam ki list" aur "Live activity" mein dekho kaun kya kar raha hai.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padho: verdict + limitations + aage kya. Har number ke saath uska run id.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Director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plan banata, kaam baantta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quality, sessions, volatility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Analyst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chart idea → exact rule → study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Architect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rule → strategy spec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costs ke saath backtest + walk-forward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Room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Director se chat — beech mein instructions do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Aage research layak · Abhi pakka nahi · Edge nahi mila · Data/tool ki kami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· SIDEBAR: "CHART WORKSPACE"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ka chart + har candle ki "report card". Aap dekh sakte ho engine ko ek candle ke baare mein kya-kya pata hai.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 doctor ki report — ek candle pe click karo to uska BP, sugar sab (size, wick, trend, session, volatility) dikh jaata hai.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samajhne, pattern dekhne, aur yeh check karne ke liye ki engine market ko kaise "dekhta" hai.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Upar timeframe chuno: M1 / M5 / M15 / H1. Time zone: India (IST) default hai.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"Structure" buttons on/off karo: Swings, S/R, Trendlines, Events (SW, BO, RT, FB).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bhi candle pe click → right side "M5 bar features" panel khulta hai.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mein green "Entry allowed" ya red "No entry" badge dekho — kyun entry band hai.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Neeche 4 cards se seedha Strategy Lab / Library pe jao. Right side "Data Health" card.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candle ki banawat: body, upar/neeche ki wick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pichhli candles ka pattern, jaise DDU = down-down-up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 / H1 context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badi timeframe ka trend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flags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entry band: rollover, abnormal spread, hafte ki pehli/aakhri 3 candles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yeh info kis time pata chali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 spread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 candle pe 3 scenario ka spread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· SIDEBAR: "DATA HEALTH · COSTS"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Center · Costs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localhost:3000/costs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trade ka asli kharcha kitna hai — spread, slippage, commission, swap. Koi bhi edge in kharchon ke baad bachni chahiye.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 ka profit tabhi asli jab kiraya, bijli, staff ka kharcha minus karke bhi bache. Yeh page woh kharche ka hisaab hai.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Kabhi-kabhi check. Roz kuch karna nahi. Raw account ka data aane pe "Calibrate Raw" ek baar.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Upar "Account cost profiles": demo_trial7 (✓ validated) aur raw (◐ provisional). Jo "active" hai wahi naye tests mein lagta.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for new runs" se profile badlo. Aap live Raw account pe trade karoge, isliye raw hi final decide karega.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Heatmap: kis ghante/din spread kitna. Line chart: 2021 se spread level. Table: saal-wise spread.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cards: Cost scenarios (gate = pessimistic), Validation (model sahi hai?), Swap &amp; commission.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demo account ke ticks aane pe: "Calibrate Raw" (open item A7).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kis account ke kharche use karne hain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kaccha — demo spread + $10 commission; isse koi strategy pass nahi ho sakti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ticks se test kiya hua model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/ pts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price ki sabse chhoti unit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 / p50 / p90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sasta / normal / mehenga din ka spread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Rollover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roz raat ka mehenga spread time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· SIDEBAR: "SEQUENCES · REGIMES · S/R"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Explorer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localhost:3000/explorer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"Pattern X ke baad gold ne asal mein kya kiya?" — strategy banane se pehle yeh jaanne ka page. Asli fills aur costs ke saath.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Jaise mausam vibhag: "jab baadal aise hote hain, 70% baar baarish hoti" — pehle yeh pakka karo, phir chhata becho.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test karne se PEHLE, ya naye idea dhoondhne ke liye.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"Pre-registered library": pehle se likhe 18 behaviours. "Screen every behaviour" = sab ek saath, luck-correction ke saath.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behaviour pe "Study" → poori report: target pehle laga ya stop, avg R, luck ka chance, saal/session-wise.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"Event study": apna pattern likho (conditions + stop/target ATR) → sirf Tier A pe "exploratory" test.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Pasand aaye to pre-register karo → tab Tier B pe test hota hai.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"Distributions": koi feature saal/session/volatility ke hisaab se kaisa behave karta.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pattern kitni baar aaya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hit first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kitni baar target stop se pehle laga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before / after costs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kharche se pehle / baad ka avg result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(FDR 10%)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bahut saare test ek saath karne ki luck-correction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 / MAE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trade ke dauran max faayda / max nuksaan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sirf dekhne ke liye, abhi sabot nahi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· SIDEBAR: "AI · VISUAL · FROM CHART"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Lab — strategy banane ke 3 tareeke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localhost:3000/strategy-lab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1463040"/>
            <a:ext cx="3630168" cy="4892040"/>
          </a:xfrm>
          <a:prstGeom prst="roundRect">
            <a:avLst>
              <a:gd name="adj" fmla="val 3023"/>
            </a:avLst>
          </a:prstGeom>
          <a:solidFill>
            <a:srgbClr val="2A2415"/>
          </a:solidFill>
          <a:ln w="12700">
            <a:solidFill>
              <a:srgbClr val="2A241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24" y="1816364"/>
            <a:ext cx="317480" cy="317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17373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Builder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4231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bharke rules likho — koi code nahi. Sabse zyada control.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3246120"/>
            <a:ext cx="3172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from:" mein example chuno (Three-candle reversal, London open momentum) — seekhne ke liye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bharo (agli slide)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side: ✓ valid spec, Tier A/B pe kitne signals, chart pe kahan fire hua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→ Backtest / Optimize / Validate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79392" y="1463040"/>
            <a:ext cx="3630168" cy="4892040"/>
          </a:xfrm>
          <a:prstGeom prst="roundRect">
            <a:avLst>
              <a:gd name="adj" fmla="val 302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07992" y="169164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16" y="1816364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93792" y="17373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Chart-Based Creator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4507992" y="24231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pe candle pe click karo, woh rules mein badal jaata hai.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07992" y="3246120"/>
            <a:ext cx="3172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Tier B ke end pe khulta hai (C sealed)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 setup pasand ho, us candle pe click (jahan entry lete)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us candle ke facts dikhata — 2 se 4 tick karo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"Review in Visual Builder" → baaki waise hi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101584" y="1463040"/>
            <a:ext cx="3630168" cy="4892040"/>
          </a:xfrm>
          <a:prstGeom prst="roundRect">
            <a:avLst>
              <a:gd name="adj" fmla="val 302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330184" y="1691640"/>
            <a:ext cx="566928" cy="56692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908" y="1816364"/>
            <a:ext cx="317480" cy="317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015984" y="1737360"/>
            <a:ext cx="253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Discovery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8330184" y="24231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ko range do, woh saare combinations khud test kare.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8330184" y="3246120"/>
            <a:ext cx="31729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search" form: behaviours × sessions × volatility × exits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grid (sab) / random / evolutionary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"I approve before it runs" ya unattended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trials, Max minutes → progress Research Pipeline page pe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LAB · VISUAL BUILDER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ke 5 hisse — har field ka matlab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2109155" cy="4892040"/>
          </a:xfrm>
          <a:prstGeom prst="roundRect">
            <a:avLst>
              <a:gd name="adj" fmla="val 520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645920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Idea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194560"/>
            <a:ext cx="17433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ka naam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ka group (variants ek family)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kyun kaam karega — test se PEHLE likho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749235" y="1463040"/>
            <a:ext cx="2109155" cy="4892040"/>
          </a:xfrm>
          <a:prstGeom prst="roundRect">
            <a:avLst>
              <a:gd name="adj" fmla="val 5202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932115" y="1645920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Entry rules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32115" y="2194560"/>
            <a:ext cx="17433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kya check karna (jaise seq, rsi)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&gt;, &lt;, =, 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 number/value se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andar sab conditions sach; koi bhi ek rule trade khol de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41270" y="1463040"/>
            <a:ext cx="2109155" cy="4892040"/>
          </a:xfrm>
          <a:prstGeom prst="roundRect">
            <a:avLst>
              <a:gd name="adj" fmla="val 520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224150" y="1645920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Filters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224150" y="2194560"/>
            <a:ext cx="17433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/ London / NY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(UTC)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in ghanton mein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kaunse din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mid / high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spread ÷ median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mehenga spread ho to skip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333305" y="1463040"/>
            <a:ext cx="2109155" cy="4892040"/>
          </a:xfrm>
          <a:prstGeom prst="roundRect">
            <a:avLst>
              <a:gd name="adj" fmla="val 5202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16185" y="1645920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Exit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7516185" y="2194560"/>
            <a:ext cx="17433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× ATR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nuksaan kahan kaatna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× ATR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kahan lena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ko peechhe se khiskana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exit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itni M5 candles baad band (24 = 2 ghante)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9625340" y="1463040"/>
            <a:ext cx="2109155" cy="4892040"/>
          </a:xfrm>
          <a:prstGeom prst="roundRect">
            <a:avLst>
              <a:gd name="adj" fmla="val 520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808220" y="1645920"/>
            <a:ext cx="17433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Sizing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808220" y="2194560"/>
            <a:ext cx="174339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equity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shuruaati paisa (USD)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%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trade mein equity ka kitna % risk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 mein bhi aata hai, isliye size se edge nahi badalti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6428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M5 candle band hone pe rules check hote hain; entry agle M1 open pe fill hoti hai.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· SIDEBAR: "TEST PERFORMANCE"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localhost:3000/backtest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strategy ko purane data pe chalata hai — har trade asli spread, slippage, commission ke saath. Teeno cost scenario ek saath.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Nayi gaadi ka test drive — shehar (Tier A), highway (Tier B), dono (A+B). Aur petrol ka kharcha bhi gina jaata hai.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nayi strategy ya badlav ke baad — pehla test.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a backtest": strategy chuno, phir button: Tier A / Tier B / Tier A+B.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Upar numbers: Trades, Win rate, Expectancy · pessimistic (sabse zaroori), Profit factor, Max drawdown, Family trials.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"Equity in R" chart: teen lines = teen cost scenario. Gold line (pessimistic) hi count hoti hai.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the costs take": kharcha kitna R kha gaya. "How much cost can it take?": aur kitna spread seh sakti.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it works": saal / session / weekday / regime. Trade list pe click → M1 chart pe replay.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Expectancy / trade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avg R per trade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…before costs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bina kharche — sirf samajhne ke liye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/ trade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kamai kitni stable hai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luck?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Deflated Sharpe + bootstrap test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trials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 family mein kitne variants try hue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(ambiguity)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ek hi M1 candle mein stop aur target dono — kaun pehle, pakka nahi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· SIDEBAR: "PARAMETER TUNING"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— best settings, luck se bachke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localhost:3000/optimize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1463040"/>
            <a:ext cx="4754880" cy="4892040"/>
          </a:xfrm>
          <a:prstGeom prst="roundRect">
            <a:avLst>
              <a:gd name="adj" fmla="val 230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916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strategy ke 1–3 settings (jaise Stop × ATR, Target × ATR) ki range do; engine har combination Tier A pe test karta hai (max 400).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01752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· Strategy" chuno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· Parameters to vary": + add a parameter → From / To / Step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"All variants" table (pessimistic expectancy se sorted)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parameter ho to "Sensitivity map" (heatmap) dekho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wale ko → Validate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394960" y="1463040"/>
            <a:ext cx="3163824" cy="3291840"/>
          </a:xfrm>
          <a:prstGeom prst="roundRect">
            <a:avLst>
              <a:gd name="adj" fmla="val 3468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5486400" y="1554480"/>
          <a:ext cx="2980944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577840" y="37947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Plateau = achha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577840" y="416052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Aas-paas ki settings bhi achhi → asli pattern.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567928" y="1463040"/>
            <a:ext cx="3163824" cy="3291840"/>
          </a:xfrm>
          <a:prstGeom prst="roundRect">
            <a:avLst>
              <a:gd name="adj" fmla="val 3468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8659368" y="1554480"/>
          <a:ext cx="2980944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8750808" y="3794760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Spike = khatra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750808" y="4160520"/>
            <a:ext cx="2798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ek setting achhi → shayad luck.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394960" y="4937760"/>
            <a:ext cx="6336792" cy="1417320"/>
          </a:xfrm>
          <a:prstGeom prst="roundRect">
            <a:avLst>
              <a:gd name="adj" fmla="val 7742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623560" y="5102352"/>
            <a:ext cx="5897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DHYAN RAKHO</a:t>
            </a:r>
            <a:endParaRPr lang="en-US" sz="1100" dirty="0"/>
          </a:p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variant ek trial gina jaata hai ("every variant counted"). 400 variants try kiye to family ka bar bahut ooncha ho jaata hai — "Best vs luck (Deflated Sharpe)" yahi batata hai. Sirf Tier A use hota hai.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· SIDEBAR: "OUT-OF-SAMPLE · ROBUSTNESS"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— final imaandar test (§15)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localhost:3000/validate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91640"/>
                <a:gridCol w="2880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 (§15)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4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Chahiye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4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24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expectancy (pessimistic)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+0.10 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mehenge kharche ke baad bhi har trade pe kamai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Trades — Tier A / Tier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1,000 / ≥ 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kaafi baar hua ho, 20 trades pe bharosa nahi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factor (pessimistic)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jeet haar se 15% zyada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 R, ≤ 20% 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beech ka nuksaan sehne layak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— saal aur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 positive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sirf ek saal/session mein nahi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Intrabar ambiguity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stop/target ka confusion kam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Deflated Sharpe (trials ke saath)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 nahi hai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(Tier C) expectancy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 aur ≥ 50% of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exam mein bhi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515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 accesses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0B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4F4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exam sirf ek baar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21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863840" y="1463040"/>
            <a:ext cx="3867912" cy="4892040"/>
          </a:xfrm>
          <a:prstGeom prst="roundRect">
            <a:avLst>
              <a:gd name="adj" fmla="val 283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924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8092440" y="2011680"/>
            <a:ext cx="3429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 · Strategy" chuno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· Walk-forward": khaali chhodo (fixed rules) ya parameters do (har 12 mahine re-tune, agle 3 pe trade)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"Tiers side by side", "Stability", "Promotion checklist" dekho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Candidate / Rejected / Not yet decided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 pass ho to hi: "Unseal tier C" — reason likho, ek hi baar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8092440" y="534924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range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result ka possible range.  </a:t>
            </a:r>
            <a:pPr indent="0" marL="0">
              <a:buNone/>
            </a:pPr>
            <a:r>
              <a:rPr lang="en-US" sz="110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Bad-case drawdown</a:t>
            </a:r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trades shuffle karke sabse bura girna.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· SIDEBAR: "HYPOTHESES · RUNS"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Pipeline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localhost:3000/pipeline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Discovery se shuru ki gayi searches ka control room. Engine khud 100s ideas banata, test karta aur har ek ka accept/reject reason ke saath record rakhta.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ki assembly line: idea andar → register → screen test → top ones ka final test → pass ya fail ka stamp.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aap raat bhar engine ko khud ideas dhoondhne dena chahte ho (overnight run).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 Lab → AI Discovery se banao ("New search").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Yahan "Searches" list mein woh dikhegi. "I approve" mode chuna tha to yahan approve karo.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pe click → "Hypotheses" table: har idea ka status aur A net R, B net R, WF net R.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se sirf ✓ candidate ya ✗ rejected dekho.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mile to → My Strategies → Validate.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idea test se pehle likha gaya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screen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Tier A pe pehla test pass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selected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pass tha par top mein nahi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candidate / ✗ rejected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final result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 bar (SR0)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itne trials mein sirf luck se kitna achha dikh sakta — isse upar chahiye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floor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Tier A mein kam se kam itne trades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· SIDEBAR: "LIBRARY · VERSIONS · TRIALS"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Strategies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localhost:3000/strategies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Aapki (aur AI ki) har saved strategy, uska har version, har run — ek jagah. Plus kaun si strategy kitni aage pahunchi.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Aapki file almirah + school ka result board, dono ek saath.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Purani strategy dhoondhni ho, clone karni ho, ya dekhna ho kaun pass hui.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Upar numbers: Strategies saved, Families, Variants tried, Holdouts used.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"Library": search karo, ⭐ favourite, "Edit / clone", ya seedha Backtest / Optimize / Validate.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"Families": har idea ke kitne variants try hue — jitne zyada, pass hona utna mushkil.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"Candidates leaderboard": har validated strategy ka Verdict, A∪B net R, Walk-forward R, Holdout.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strategy badli to naya version, purana bhi safe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tried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family mein kitni koshishen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Holdouts used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kitni families ne final exam de diya (har family 1)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sab pass, sirf holdout baaki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kam se kam ek criterion fail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· SIDEBAR: "FILTERS VS RULE BASELINE"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Lab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localhost:3000/ml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691640"/>
            <a:ext cx="31546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KYA HAI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(LightGBM) se seekhta hai ki aapki strategy ke kaunse signals lene layak hain aur kaunse skip karne. Phir naye data (Tier B) pe check.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AASAAN MISAAL</a:t>
            </a:r>
            <a:endParaRPr lang="en-US" sz="11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team ka selector: sab players (signals) nahi, sirf form mein chal rahe khilaadi khilao — par selection naye match mein prove ho.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 USE KAREIN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koi rule-strategy "almost" kaam kar rahi ho aur aap bure trades chhaantna chahte ho.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463040"/>
            <a:ext cx="3977640" cy="4892040"/>
          </a:xfrm>
          <a:prstGeom prst="roundRect">
            <a:avLst>
              <a:gd name="adj" fmla="val 2759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 USE KAREIN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011680"/>
            <a:ext cx="35661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"Train a filter": saved strategy chuno.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 chuno: "Probability ≥" ya "Keep top" (kitne % signals rakhne).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 A pe seekhta hai, Tier B pe judge hota hai.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"Rule alone" vs "Rule + ML filter" (Trades, Avg R pess., Profit factor).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the model looked at": kaunse features zaroori — ek feature pe tika ho to simple rule bana lo.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412480" y="1463040"/>
            <a:ext cx="3319272" cy="4892040"/>
          </a:xfrm>
          <a:prstGeom prst="roundRect">
            <a:avLst>
              <a:gd name="adj" fmla="val 3306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KE KEYWORDS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613648" y="2011680"/>
            <a:ext cx="2926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ML model ka naam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signals chhaantne wala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kept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kitne trades bache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cut-off bhi imaandari se chuna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trial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har filter family pe ek koshish gina jaata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 result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Three-candle reversal behtar hua, par phir bhi loss mein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· SIDEBAR: "IDEAS · EXPLANATIONS"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 — Hinglish mein poocho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8716975" y="5029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24242D"/>
          </a:solidFill>
          <a:ln w="12700">
            <a:solidFill>
              <a:srgbClr val="8A6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16975" y="5029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0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localhost:3000/assistant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1463040"/>
            <a:ext cx="6035040" cy="1463040"/>
          </a:xfrm>
          <a:prstGeom prst="roundRect">
            <a:avLst>
              <a:gd name="adj" fmla="val 750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1 · Claude Code / Desktop (no API)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Kaam karta hai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0574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ya Claude Desktop is folder mein kholo. Woh "candle-intelligence-research" tools se engine chalata hai. Koi API key nahi chahiye.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6035040" cy="1463040"/>
          </a:xfrm>
          <a:prstGeom prst="roundRect">
            <a:avLst>
              <a:gd name="adj" fmla="val 7500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2 · Chat (API mode)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20624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 band — budget khatam (A9)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7033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pe hi chat box. AgentRouter key .env mein chahiye. "Attach context" se koi result (backtest, validate…) saath bhejo.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4800600"/>
            <a:ext cx="6035040" cy="1554480"/>
          </a:xfrm>
          <a:prstGeom prst="roundRect">
            <a:avLst>
              <a:gd name="adj" fmla="val 7059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9834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 POOCHO (PAGE PE EXAMPLES)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"Mere last backtest ka result simple Hinglish mein samjhao: costs kitna kha gaye?"
</a:t>
            </a:r>
            <a:pPr indent="0" marL="0">
              <a:buNone/>
            </a:pPr>
            <a:r>
              <a:rPr lang="en-US" sz="12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"Liquidity sweep ke baad London session mein long ka ek idea do — spec ke saath."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675120" y="1463040"/>
            <a:ext cx="5056632" cy="4892040"/>
          </a:xfrm>
          <a:prstGeom prst="roundRect">
            <a:avLst>
              <a:gd name="adj" fmla="val 224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03720" y="1691640"/>
            <a:ext cx="411480" cy="41148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46" y="1782166"/>
            <a:ext cx="230429" cy="23042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40664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 sakta hai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21945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behaviours, results padh sakta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propose ("assistant" naam se save)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 pe backtest (trial gina jaata)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pe exploratory study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propose — aapki approval ke baad chalti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903720" y="4160520"/>
            <a:ext cx="411480" cy="41148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246" y="4251046"/>
            <a:ext cx="230429" cy="230429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06640" y="4187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Nahi kar sakta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949440" y="46634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 dekhna ya kholna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Apni search khud approve karna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 delete karna ya rules badalna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dekhna ya order lagana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POORA EXAMPLE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"Three-candle reversal" — shuru se aakhir tak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do opposite candles ke baad ek strong close = turn. Down-down-up (DDU) + high ke paas close → long; ulta → short.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103120"/>
            <a:ext cx="1765249" cy="2377440"/>
          </a:xfrm>
          <a:prstGeom prst="roundRect">
            <a:avLst>
              <a:gd name="adj" fmla="val 62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788920"/>
            <a:ext cx="1399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Lab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200400"/>
            <a:ext cx="1399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from: Three-candle reversal" chuna. Hypothesis pehle se likhi hai.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359609" y="2103120"/>
            <a:ext cx="1765249" cy="2377440"/>
          </a:xfrm>
          <a:prstGeom prst="roundRect">
            <a:avLst>
              <a:gd name="adj" fmla="val 62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42489" y="2286000"/>
            <a:ext cx="384048" cy="38404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542489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542489" y="2788920"/>
            <a:ext cx="1399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542489" y="3200400"/>
            <a:ext cx="1399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 spec. Tier A/B pe signals gine. Chart pe kahan fire hua dekha.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262018" y="2103120"/>
            <a:ext cx="1765249" cy="2377440"/>
          </a:xfrm>
          <a:prstGeom prst="roundRect">
            <a:avLst>
              <a:gd name="adj" fmla="val 62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44898" y="2286000"/>
            <a:ext cx="384048" cy="38404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44489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4444898" y="2788920"/>
            <a:ext cx="1399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444898" y="3200400"/>
            <a:ext cx="1399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chalaya. Before costs thoda theek, par pessimistic mein neeche.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164428" y="2103120"/>
            <a:ext cx="1765249" cy="2377440"/>
          </a:xfrm>
          <a:prstGeom prst="roundRect">
            <a:avLst>
              <a:gd name="adj" fmla="val 62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47308" y="2286000"/>
            <a:ext cx="384048" cy="38404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4730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347308" y="2788920"/>
            <a:ext cx="1399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costs take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347308" y="3200400"/>
            <a:ext cx="1399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Kharcha hi edge kha gaya. Chhote M5 trades mein spread bhaari padta.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066837" y="2103120"/>
            <a:ext cx="1765249" cy="2377440"/>
          </a:xfrm>
          <a:prstGeom prst="roundRect">
            <a:avLst>
              <a:gd name="adj" fmla="val 6216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49717" y="2286000"/>
            <a:ext cx="384048" cy="38404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249717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8249717" y="2788920"/>
            <a:ext cx="1399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Lab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8249717" y="3200400"/>
            <a:ext cx="1399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lagaya — behtar hua, par phir bhi loss.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9969246" y="2103120"/>
            <a:ext cx="1765249" cy="2377440"/>
          </a:xfrm>
          <a:prstGeom prst="roundRect">
            <a:avLst>
              <a:gd name="adj" fmla="val 6216"/>
            </a:avLst>
          </a:prstGeom>
          <a:solidFill>
            <a:srgbClr val="2A1818"/>
          </a:solidFill>
          <a:ln w="12700">
            <a:solidFill>
              <a:srgbClr val="2A181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0152126" y="2286000"/>
            <a:ext cx="384048" cy="38404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0152126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10152126" y="2788920"/>
            <a:ext cx="13994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10152126" y="3200400"/>
            <a:ext cx="1399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Rejected. Yeh bhi ek kaam ka jawab hai: idea drop.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457200" y="47091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85800" y="4846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−0.28 R</a:t>
            </a:r>
            <a:endParaRPr lang="en-US" sz="4000" dirty="0"/>
          </a:p>
        </p:txBody>
      </p:sp>
      <p:sp>
        <p:nvSpPr>
          <p:cNvPr id="41" name="Text 37"/>
          <p:cNvSpPr txBox="1"/>
          <p:nvPr/>
        </p:nvSpPr>
        <p:spPr>
          <a:xfrm>
            <a:off x="685800" y="5623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trade pe, pessimistic costs ke baad (example strategies)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297680" y="4709160"/>
            <a:ext cx="7434072" cy="1645920"/>
          </a:xfrm>
          <a:prstGeom prst="roundRect">
            <a:avLst>
              <a:gd name="adj" fmla="val 666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526280" y="489204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SABAK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Chhote M5 ideas mein spread + commission hi sabse bada dushman hai. Isliye Explorer suggest karta hai: bada target/stop (taaki kharcha 1 R ka chhota hissa ho), sirf strongest cases ka filter, ya Raw account ke sasta kharcha wala profile.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 KAHAN KHADE HAIN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Imaandar status — ab tak ke asli results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2679192" cy="2103120"/>
          </a:xfrm>
          <a:prstGeom prst="roundRect">
            <a:avLst>
              <a:gd name="adj" fmla="val 521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18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468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behaviours luck-correction ke baad pass (Tier A)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19272" y="1463040"/>
            <a:ext cx="2679192" cy="2103120"/>
          </a:xfrm>
          <a:prstGeom prst="roundRect">
            <a:avLst>
              <a:gd name="adj" fmla="val 521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547872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120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468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pehli AI search ke variants — sab rejected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1344" y="1463040"/>
            <a:ext cx="2679192" cy="2103120"/>
          </a:xfrm>
          <a:prstGeom prst="roundRect">
            <a:avLst>
              <a:gd name="adj" fmla="val 521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9944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+0.025 R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6409944" y="2468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pehla CEO mission (PDL sweep long, 59 trades) → "abhi pakka nahi"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043416" y="1463040"/>
            <a:ext cx="2679192" cy="2103120"/>
          </a:xfrm>
          <a:prstGeom prst="roundRect">
            <a:avLst>
              <a:gd name="adj" fmla="val 5217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272016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−0.28 R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9272016" y="2468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strategies, pessimistic costs ke baad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3749040"/>
            <a:ext cx="5532120" cy="2606040"/>
          </a:xfrm>
          <a:prstGeom prst="roundRect">
            <a:avLst>
              <a:gd name="adj" fmla="val 4211"/>
            </a:avLst>
          </a:prstGeom>
          <a:solidFill>
            <a:srgbClr val="24242D"/>
          </a:solidFill>
          <a:ln w="12700">
            <a:solidFill>
              <a:srgbClr val="24242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3931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AAPKI TARAF SE PENDING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— Exness Raw Spread demo account kholo → uske ticks → "Calibrate Raw". Iske bina koi strategy pass ho hi nahi sakti.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— AgentRouter budget top-up (sirf dashboard chat ke liye).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 is PC pe install nahi — CEO bridge button abhi test nahi hua.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72200" y="3749040"/>
            <a:ext cx="5559552" cy="2606040"/>
          </a:xfrm>
          <a:prstGeom prst="roundRect">
            <a:avLst>
              <a:gd name="adj" fmla="val 4211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400800" y="3931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AAGE KYA BANA HAI / BANANA HAI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 — Paper Trading: live market pe bina paise ke test (≥ 60 din, ≥ 100 signals).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12 — 20 saal ka data (Dukascopy) — zyada data, zyada bharosa.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13 — Research Gate: har strategy ka final likha hua faisla.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41" y="528889"/>
            <a:ext cx="368686" cy="36868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AAPKE LIYE RAASTA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28016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ke 3 raaste — sab pages zaroori nahi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63040"/>
            <a:ext cx="3630168" cy="4892040"/>
          </a:xfrm>
          <a:prstGeom prst="roundRect">
            <a:avLst>
              <a:gd name="adj" fmla="val 3023"/>
            </a:avLst>
          </a:prstGeom>
          <a:solidFill>
            <a:srgbClr val="2A2415"/>
          </a:solidFill>
          <a:ln w="12700">
            <a:solidFill>
              <a:srgbClr val="2A241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916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SABSE AASAAN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9659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Sirf sawaal poochna hai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85800" y="2880360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86207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Work Lab mein mission likho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3593592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357530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/ceo-run chalao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85800" y="4306824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188720" y="428853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approve karo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85800" y="5020056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188720" y="5001768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padho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557784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bharne ki zaroorat nahi.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279392" y="1463040"/>
            <a:ext cx="3630168" cy="4892040"/>
          </a:xfrm>
          <a:prstGeom prst="roundRect">
            <a:avLst>
              <a:gd name="adj" fmla="val 302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507992" y="16916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THODA HAATH LAGANA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4507992" y="19659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Apna idea test karna hai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4507992" y="2880360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0799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5010912" y="286207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pe chart dekho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507992" y="3593592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07992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5010912" y="357530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Lab → Visual Builder (example se shuru)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507992" y="4306824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507992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5010912" y="428853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→ Tier A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4507992" y="5020056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507992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5010912" y="5001768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Achha lage to Validate</a:t>
            </a:r>
            <a:endParaRPr lang="en-US" sz="1250" dirty="0"/>
          </a:p>
        </p:txBody>
      </p:sp>
      <p:sp>
        <p:nvSpPr>
          <p:cNvPr id="39" name="Text 35"/>
          <p:cNvSpPr txBox="1"/>
          <p:nvPr/>
        </p:nvSpPr>
        <p:spPr>
          <a:xfrm>
            <a:off x="4507992" y="557784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tabhi jab idea Tier A pe positive ho.</a:t>
            </a:r>
            <a:endParaRPr lang="en-US" sz="1150" dirty="0"/>
          </a:p>
        </p:txBody>
      </p:sp>
      <p:sp>
        <p:nvSpPr>
          <p:cNvPr id="40" name="Shape 36"/>
          <p:cNvSpPr/>
          <p:nvPr/>
        </p:nvSpPr>
        <p:spPr>
          <a:xfrm>
            <a:off x="8101584" y="1463040"/>
            <a:ext cx="3630168" cy="4892040"/>
          </a:xfrm>
          <a:prstGeom prst="roundRect">
            <a:avLst>
              <a:gd name="adj" fmla="val 3023"/>
            </a:avLst>
          </a:prstGeom>
          <a:solidFill>
            <a:srgbClr val="1A1A21"/>
          </a:solidFill>
          <a:ln w="12700">
            <a:solidFill>
              <a:srgbClr val="1A1A21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330184" y="16916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B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SEEKHNE KE LIYE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8330184" y="19659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Market samajhna hai</a:t>
            </a:r>
            <a:endParaRPr lang="en-US" sz="1800" dirty="0"/>
          </a:p>
        </p:txBody>
      </p:sp>
      <p:sp>
        <p:nvSpPr>
          <p:cNvPr id="43" name="Shape 39"/>
          <p:cNvSpPr/>
          <p:nvPr/>
        </p:nvSpPr>
        <p:spPr>
          <a:xfrm>
            <a:off x="8330184" y="2880360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330184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8833104" y="2862072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Explorer → Library</a:t>
            </a:r>
            <a:endParaRPr lang="en-US" sz="1250" dirty="0"/>
          </a:p>
        </p:txBody>
      </p:sp>
      <p:sp>
        <p:nvSpPr>
          <p:cNvPr id="46" name="Shape 42"/>
          <p:cNvSpPr/>
          <p:nvPr/>
        </p:nvSpPr>
        <p:spPr>
          <a:xfrm>
            <a:off x="8330184" y="3593592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8330184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8833104" y="3575304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"Screen every behaviour"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8330184" y="4306824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8330184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8833104" y="4288536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 behaviour pe "Study"</a:t>
            </a:r>
            <a:endParaRPr lang="en-US" sz="1250" dirty="0"/>
          </a:p>
        </p:txBody>
      </p:sp>
      <p:sp>
        <p:nvSpPr>
          <p:cNvPr id="52" name="Shape 48"/>
          <p:cNvSpPr/>
          <p:nvPr/>
        </p:nvSpPr>
        <p:spPr>
          <a:xfrm>
            <a:off x="8330184" y="5020056"/>
            <a:ext cx="365760" cy="3657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8330184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8833104" y="5001768"/>
            <a:ext cx="2670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"Next steps" padho</a:t>
            </a:r>
            <a:endParaRPr lang="en-US" sz="1250" dirty="0"/>
          </a:p>
        </p:txBody>
      </p:sp>
      <p:sp>
        <p:nvSpPr>
          <p:cNvPr id="55" name="Text 51"/>
          <p:cNvSpPr txBox="1"/>
          <p:nvPr/>
        </p:nvSpPr>
        <p:spPr>
          <a:xfrm>
            <a:off x="8330184" y="5577840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Kharch kuch nahi, trial count bhi nahi badhta (exploratory).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731520" y="822960"/>
            <a:ext cx="822960" cy="822960"/>
          </a:xfrm>
          <a:prstGeom prst="ellipse">
            <a:avLst/>
          </a:prstGeom>
          <a:solidFill>
            <a:srgbClr val="E0B04A"/>
          </a:solidFill>
          <a:ln w="12700">
            <a:solidFill>
              <a:srgbClr val="E0B0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" y="1004011"/>
            <a:ext cx="460858" cy="46085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4F4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 aap batao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Yeh sirf explanation hai — app mein kuch nahi badla. In sawaalon ke jawab se changes plan karenge: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291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Kaunse pages sabse confusing lage? Kya kuch pages "Advanced" mein chhupa dein?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pe keywords English hi rahein, ya Hinglish label + hover pe matlab chahiye?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"Simple mode" chahiye — sirf CEO Work Lab + Overview + My Strategies?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page pe "Yeh page kya karta hai" wala help box chahiye?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0B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Kaunsa raasta (A / B / C) aap sabse zyada use karoge?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Candle Intelligence — Poora Feature Guide</dc:title>
  <dc:subject>PptxGenJS Presentation</dc:subject>
  <dc:creator>PptxGenJS</dc:creator>
  <cp:lastModifiedBy>PptxGenJS</cp:lastModifiedBy>
  <cp:revision>1</cp:revision>
  <dcterms:created xsi:type="dcterms:W3CDTF">2026-09-22T05:21:16Z</dcterms:created>
  <dcterms:modified xsi:type="dcterms:W3CDTF">2026-09-22T05:21:16Z</dcterms:modified>
</cp:coreProperties>
</file>